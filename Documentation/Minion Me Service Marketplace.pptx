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954" r:id="rId4"/>
  </p:sldMasterIdLst>
  <p:notesMasterIdLst>
    <p:notesMasterId r:id="rId16"/>
  </p:notesMasterIdLst>
  <p:handoutMasterIdLst>
    <p:handoutMasterId r:id="rId17"/>
  </p:handoutMasterIdLst>
  <p:sldIdLst>
    <p:sldId id="261" r:id="rId5"/>
    <p:sldId id="315" r:id="rId6"/>
    <p:sldId id="280" r:id="rId7"/>
    <p:sldId id="314" r:id="rId8"/>
    <p:sldId id="316" r:id="rId9"/>
    <p:sldId id="273" r:id="rId10"/>
    <p:sldId id="306" r:id="rId11"/>
    <p:sldId id="317" r:id="rId12"/>
    <p:sldId id="319" r:id="rId13"/>
    <p:sldId id="308" r:id="rId14"/>
    <p:sldId id="31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034" autoAdjust="0"/>
  </p:normalViewPr>
  <p:slideViewPr>
    <p:cSldViewPr>
      <p:cViewPr varScale="1">
        <p:scale>
          <a:sx n="93" d="100"/>
          <a:sy n="93" d="100"/>
        </p:scale>
        <p:origin x="259" y="72"/>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11/17/2025</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11/17/2025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3953769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3524746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1886882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2778389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7</a:t>
            </a:fld>
            <a:endParaRPr lang="en-US" noProof="0" dirty="0"/>
          </a:p>
        </p:txBody>
      </p:sp>
    </p:spTree>
    <p:extLst>
      <p:ext uri="{BB962C8B-B14F-4D97-AF65-F5344CB8AC3E}">
        <p14:creationId xmlns:p14="http://schemas.microsoft.com/office/powerpoint/2010/main" val="3782231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8</a:t>
            </a:fld>
            <a:endParaRPr lang="en-US" noProof="0" dirty="0"/>
          </a:p>
        </p:txBody>
      </p:sp>
    </p:spTree>
    <p:extLst>
      <p:ext uri="{BB962C8B-B14F-4D97-AF65-F5344CB8AC3E}">
        <p14:creationId xmlns:p14="http://schemas.microsoft.com/office/powerpoint/2010/main" val="2687732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10</a:t>
            </a:fld>
            <a:endParaRPr lang="en-US" noProof="0" dirty="0"/>
          </a:p>
        </p:txBody>
      </p:sp>
    </p:spTree>
    <p:extLst>
      <p:ext uri="{BB962C8B-B14F-4D97-AF65-F5344CB8AC3E}">
        <p14:creationId xmlns:p14="http://schemas.microsoft.com/office/powerpoint/2010/main" val="2318251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11</a:t>
            </a:fld>
            <a:endParaRPr lang="en-US" noProof="0" dirty="0"/>
          </a:p>
        </p:txBody>
      </p:sp>
    </p:spTree>
    <p:extLst>
      <p:ext uri="{BB962C8B-B14F-4D97-AF65-F5344CB8AC3E}">
        <p14:creationId xmlns:p14="http://schemas.microsoft.com/office/powerpoint/2010/main" val="951305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xmlns=""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xmlns=""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xmlns=""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xmlns=""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xmlns=""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xmlns=""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xmlns=""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xmlns=""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xmlns=""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xmlns=""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xmlns=""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xmlns=""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xmlns=""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xmlns=""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xmlns=""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xmlns=""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xmlns=""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xmlns=""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xmlns=""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xmlns=""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xmlns=""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xmlns=""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smtClean="0"/>
              <a:t>Click to edit Master title style</a:t>
            </a:r>
            <a:endParaRPr lang="en-US"/>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xmlns=""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smtClean="0"/>
              <a:t>Click to edit Master title style</a:t>
            </a:r>
            <a:endParaRPr lang="en-US"/>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xmlns=""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xmlns=""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xmlns=""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xmlns=""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xmlns=""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xmlns=""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xmlns=""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xmlns=""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xmlns=""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xmlns=""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xmlns=""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xmlns=""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xmlns=""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xmlns=""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xmlns=""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xmlns=""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xmlns=""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xmlns=""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xmlns=""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xmlns=""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xmlns=""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xmlns=""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xmlns=""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xmlns=""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xmlns=""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xmlns=""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xmlns=""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xmlns=""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xmlns=""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xmlns=""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xmlns=""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xmlns=""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xmlns=""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xmlns=""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xmlns=""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xmlns=""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xmlns=""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xmlns=""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xmlns=""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xmlns=""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xmlns=""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xmlns=""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xmlns=""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xmlns=""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xmlns=""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xmlns=""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xmlns=""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xmlns=""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xmlns=""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xmlns=""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xmlns=""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xmlns=""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xmlns=""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xmlns=""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xmlns=""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xmlns=""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xmlns=""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xmlns=""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xmlns=""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xmlns=""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xmlns=""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xmlns=""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xmlns=""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xmlns=""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xmlns=""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xmlns=""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xmlns=""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smtClean="0"/>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xmlns=""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xmlns=""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xmlns=""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xmlns=""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xmlns=""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xmlns=""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xmlns=""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xmlns=""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xmlns=""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xmlns=""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xmlns=""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xmlns=""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xmlns=""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xmlns=""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xmlns=""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xmlns=""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5.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www.lynk.co.ke/"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3.jpeg"/><Relationship Id="rId4" Type="http://schemas.openxmlformats.org/officeDocument/2006/relationships/hyperlink" Target="https://www.taskrabbi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xmlns=""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xmlns=""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xmlns=""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p:txBody>
          <a:bodyPr/>
          <a:lstStyle/>
          <a:p>
            <a:r>
              <a:rPr lang="en-US" dirty="0" smtClean="0"/>
              <a:t>Minion Me Service Marketplace</a:t>
            </a:r>
            <a:r>
              <a:rPr lang="en-US" dirty="0"/>
              <a:t/>
            </a:r>
            <a:br>
              <a:rPr lang="en-US" dirty="0"/>
            </a:b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p:txBody>
          <a:bodyPr/>
          <a:lstStyle/>
          <a:p>
            <a:r>
              <a:rPr lang="en-US" dirty="0" smtClean="0"/>
              <a:t>By Wahu Ngugi 18/03030</a:t>
            </a:r>
          </a:p>
          <a:p>
            <a:r>
              <a:rPr lang="en-US" dirty="0"/>
              <a:t>Supervisor: Clive </a:t>
            </a:r>
            <a:r>
              <a:rPr lang="en-US" dirty="0" err="1"/>
              <a:t>Onsomu</a:t>
            </a:r>
            <a:r>
              <a:rPr lang="en-US" dirty="0"/>
              <a:t> Unit: BISF 3500 Final Year Project 1 Course: Information Security &amp; Forensics</a:t>
            </a:r>
            <a:endParaRPr lang="en-US" dirty="0"/>
          </a:p>
        </p:txBody>
      </p:sp>
    </p:spTree>
    <p:extLst>
      <p:ext uri="{BB962C8B-B14F-4D97-AF65-F5344CB8AC3E}">
        <p14:creationId xmlns:p14="http://schemas.microsoft.com/office/powerpoint/2010/main" val="31352289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smtClean="0"/>
              <a:t>Background</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r>
              <a:rPr lang="en-US" dirty="0"/>
              <a:t>Kenya’s service </a:t>
            </a:r>
            <a:r>
              <a:rPr lang="en-US" dirty="0" smtClean="0"/>
              <a:t>sector, that is, </a:t>
            </a:r>
            <a:r>
              <a:rPr lang="en-US" b="1" dirty="0" smtClean="0"/>
              <a:t>errands</a:t>
            </a:r>
            <a:r>
              <a:rPr lang="en-US" b="1" dirty="0"/>
              <a:t>, delivery, household help, and manual </a:t>
            </a:r>
            <a:r>
              <a:rPr lang="en-US" b="1" dirty="0" err="1" smtClean="0"/>
              <a:t>labour</a:t>
            </a:r>
            <a:r>
              <a:rPr lang="en-US" dirty="0" smtClean="0"/>
              <a:t>, still </a:t>
            </a:r>
            <a:r>
              <a:rPr lang="en-US" dirty="0"/>
              <a:t>depends on informal word-of-mouth and scattered social media, creating inefficiency, security risks, and low accountability. Minion Me offers a digital marketplace built for the Kenyan context, introducing verified service providers, strong security vetting, mobile-first access, and M-</a:t>
            </a:r>
            <a:r>
              <a:rPr lang="en-US" dirty="0" err="1"/>
              <a:t>Pesa</a:t>
            </a:r>
            <a:r>
              <a:rPr lang="en-US" dirty="0"/>
              <a:t> integration. The platform formalizes the gig space, boosts trust, and delivers safer, more reliable opportunities for both clients and workers, unlocking real economic growth.</a:t>
            </a:r>
            <a:endParaRPr lang="en-US" dirty="0"/>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smtClean="0"/>
              <a:t>Minion Me</a:t>
            </a:r>
            <a:endParaRPr lang="en-US" dirty="0"/>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2</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86157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F890B92-D44D-461B-A5E6-D4F348791F20}"/>
              </a:ext>
              <a:ext uri="{C183D7F6-B498-43B3-948B-1728B52AA6E4}">
                <adec:decorative xmlns:adec="http://schemas.microsoft.com/office/drawing/2017/decorative" xmlns="" val="1"/>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0" y="112976"/>
            <a:ext cx="12191999" cy="3278423"/>
          </a:xfrm>
        </p:spPr>
      </p:pic>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smtClean="0"/>
              <a:t>Problem statement</a:t>
            </a:r>
            <a:endParaRPr lang="en-US" dirty="0"/>
          </a:p>
        </p:txBody>
      </p:sp>
      <p:sp>
        <p:nvSpPr>
          <p:cNvPr id="34" name="Text Placeholder 33">
            <a:extLst>
              <a:ext uri="{FF2B5EF4-FFF2-40B4-BE49-F238E27FC236}">
                <a16:creationId xmlns:a16="http://schemas.microsoft.com/office/drawing/2014/main" id="{29455ACD-CCC6-4BEC-AA79-DC1C69D087DF}"/>
              </a:ext>
              <a:ext uri="{C183D7F6-B498-43B3-948B-1728B52AA6E4}">
                <adec:decorative xmlns:adec="http://schemas.microsoft.com/office/drawing/2017/decorative" xmlns="" val="1"/>
              </a:ext>
            </a:extLst>
          </p:cNvPr>
          <p:cNvSpPr>
            <a:spLocks noGrp="1"/>
          </p:cNvSpPr>
          <p:nvPr>
            <p:ph type="body" sz="quarter" idx="20"/>
          </p:nvPr>
        </p:nvSpPr>
        <p:spPr/>
        <p:txBody>
          <a:bodyPr/>
          <a:lstStyle/>
          <a:p>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9"/>
          </p:nvPr>
        </p:nvSpPr>
        <p:spPr/>
        <p:txBody>
          <a:bodyPr>
            <a:normAutofit fontScale="47500" lnSpcReduction="20000"/>
          </a:bodyPr>
          <a:lstStyle/>
          <a:p>
            <a:r>
              <a:rPr lang="en-US" dirty="0"/>
              <a:t>Kenya’s gig and on-demand service market remains informal, forcing clients to rely on friends, brokers, or WhatsApp groups that offer no security, pricing transparency, or professionalism. This exposes both sides to unnecessary risk and wasted time. Service providers also lack a structured way to showcase skills, earn consistently, or build a trusted digital reputation. The result is mistrust, underused talent, and lost economic opportunity. A secure, efficient, locally tuned digital platform is urgently needed to formalize the space and close this service gap.</a:t>
            </a:r>
            <a:endParaRPr lang="en-US" dirty="0"/>
          </a:p>
        </p:txBody>
      </p:sp>
      <p:pic>
        <p:nvPicPr>
          <p:cNvPr id="39" name="Picture Placeholder 38">
            <a:extLst>
              <a:ext uri="{FF2B5EF4-FFF2-40B4-BE49-F238E27FC236}">
                <a16:creationId xmlns:a16="http://schemas.microsoft.com/office/drawing/2014/main" id="{D15B262E-3234-4E0C-A890-B69314333FD8}"/>
              </a:ext>
              <a:ext uri="{C183D7F6-B498-43B3-948B-1728B52AA6E4}">
                <adec:decorative xmlns:adec="http://schemas.microsoft.com/office/drawing/2017/decorative" xmlns="" val="1"/>
              </a:ext>
            </a:extLst>
          </p:cNvPr>
          <p:cNvPicPr>
            <a:picLocks noGrp="1" noChangeAspect="1"/>
          </p:cNvPicPr>
          <p:nvPr>
            <p:ph type="pic" sz="quarter" idx="21"/>
          </p:nvPr>
        </p:nvPicPr>
        <p:blipFill>
          <a:blip r:embed="rId4">
            <a:extLst>
              <a:ext uri="{96DAC541-7B7A-43D3-8B79-37D633B846F1}">
                <asvg:svgBlip xmlns:asvg="http://schemas.microsoft.com/office/drawing/2016/SVG/main" xmlns="" r:embed="rId5"/>
              </a:ext>
            </a:extLst>
          </a:blip>
          <a:srcRect l="853" r="853"/>
          <a:stretch>
            <a:fillRect/>
          </a:stretch>
        </p:blipFill>
        <p:spPr/>
      </p:pic>
      <p:sp>
        <p:nvSpPr>
          <p:cNvPr id="2" name="Slide Number Placeholder 1">
            <a:extLst>
              <a:ext uri="{FF2B5EF4-FFF2-40B4-BE49-F238E27FC236}">
                <a16:creationId xmlns:a16="http://schemas.microsoft.com/office/drawing/2014/main" id="{7A6C6147-EB04-429F-9D41-52F18DE2322C}"/>
              </a:ext>
            </a:extLst>
          </p:cNvPr>
          <p:cNvSpPr>
            <a:spLocks noGrp="1"/>
          </p:cNvSpPr>
          <p:nvPr>
            <p:ph type="sldNum" sz="quarter" idx="4"/>
          </p:nvPr>
        </p:nvSpPr>
        <p:spPr/>
        <p:txBody>
          <a:bodyPr/>
          <a:lstStyle/>
          <a:p>
            <a:fld id="{4FAB73BC-B049-4115-A692-8D63A059BFB8}" type="slidenum">
              <a:rPr lang="en-US" smtClean="0"/>
              <a:pPr/>
              <a:t>3</a:t>
            </a:fld>
            <a:endParaRPr lang="en-US" dirty="0"/>
          </a:p>
        </p:txBody>
      </p:sp>
      <p:sp>
        <p:nvSpPr>
          <p:cNvPr id="32" name="Text Placeholder 119">
            <a:extLst>
              <a:ext uri="{FF2B5EF4-FFF2-40B4-BE49-F238E27FC236}">
                <a16:creationId xmlns:a16="http://schemas.microsoft.com/office/drawing/2014/main" id="{D9043C6D-0761-489D-8401-7F976D80BA59}"/>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40" name="Freeform: Shape 39">
            <a:extLst>
              <a:ext uri="{FF2B5EF4-FFF2-40B4-BE49-F238E27FC236}">
                <a16:creationId xmlns:a16="http://schemas.microsoft.com/office/drawing/2014/main" id="{CD5E95B5-674E-4A3A-A7C5-83CFC41142E0}"/>
              </a:ext>
              <a:ext uri="{C183D7F6-B498-43B3-948B-1728B52AA6E4}">
                <adec:decorative xmlns:adec="http://schemas.microsoft.com/office/drawing/2017/decorative" xmlns=""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562049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smtClean="0"/>
              <a:t>Proposed Solution</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r>
              <a:rPr lang="en-US" dirty="0"/>
              <a:t>Minion Me is a Kenyan-focused digital marketplace built to fix the trust and efficiency problems in the informal service sector. The platform lets clients post tasks and instantly connect with pre-vetted “Minions” through a secure, structured system. Users are verified, providers have detailed profiles with ratings, task posting is transparent with bids or fixed prices, and payments run through safe Mobile Money channels like M-</a:t>
            </a:r>
            <a:r>
              <a:rPr lang="en-US" dirty="0" err="1"/>
              <a:t>Pesa</a:t>
            </a:r>
            <a:r>
              <a:rPr lang="en-US" dirty="0"/>
              <a:t>. Real-time updates and progress tracking keep everything accountable. Minion Me doesn’t just digitize the old system—it creates a safer, more reliable ecosystem where workers can earn formally and build credible digital reputations.</a:t>
            </a:r>
            <a:endParaRPr lang="en-US" dirty="0"/>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smtClean="0"/>
              <a:t>Minion Me</a:t>
            </a:r>
            <a:endParaRPr lang="en-US" dirty="0"/>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4</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33532442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FBCF731-478B-42B2-B3C6-ECCC3D68E00B}"/>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0"/>
            <a:ext cx="8329286" cy="6858000"/>
          </a:xfrm>
        </p:spPr>
      </p:pic>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xmlns=""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CF39D3B5-ABDB-4DFF-8107-EF97569C9BBE}"/>
              </a:ext>
            </a:extLst>
          </p:cNvPr>
          <p:cNvSpPr>
            <a:spLocks noGrp="1"/>
          </p:cNvSpPr>
          <p:nvPr>
            <p:ph type="ctrTitle"/>
          </p:nvPr>
        </p:nvSpPr>
        <p:spPr/>
        <p:txBody>
          <a:bodyPr/>
          <a:lstStyle/>
          <a:p>
            <a:r>
              <a:rPr lang="en-US" dirty="0" smtClean="0"/>
              <a:t>Objectives</a:t>
            </a:r>
            <a:endParaRPr lang="en-US" dirty="0"/>
          </a:p>
        </p:txBody>
      </p:sp>
      <p:sp>
        <p:nvSpPr>
          <p:cNvPr id="44" name="Subtitle 43">
            <a:extLst>
              <a:ext uri="{FF2B5EF4-FFF2-40B4-BE49-F238E27FC236}">
                <a16:creationId xmlns:a16="http://schemas.microsoft.com/office/drawing/2014/main" id="{F522C824-2C48-4465-AABE-F46286D9ECD5}"/>
              </a:ext>
            </a:extLst>
          </p:cNvPr>
          <p:cNvSpPr>
            <a:spLocks noGrp="1"/>
          </p:cNvSpPr>
          <p:nvPr>
            <p:ph type="subTitle" idx="1"/>
          </p:nvPr>
        </p:nvSpPr>
        <p:spPr/>
        <p:txBody>
          <a:bodyPr>
            <a:normAutofit fontScale="77500" lnSpcReduction="20000"/>
          </a:bodyPr>
          <a:lstStyle/>
          <a:p>
            <a:r>
              <a:rPr lang="en-US" dirty="0"/>
              <a:t>Main goal is to build and deploy Minion Me, a secure, Kenyan-focused digital marketplace that links clients with vetted service providers and helps formalize the gig economy. This includes understanding the current informal market, creating a mobile-first platform with task posting and tracking, integrating strong verification and secure Mobile Money payments like M-</a:t>
            </a:r>
            <a:r>
              <a:rPr lang="en-US" dirty="0" err="1"/>
              <a:t>Pesa</a:t>
            </a:r>
            <a:r>
              <a:rPr lang="en-US" dirty="0"/>
              <a:t>, building a transparent rating system, and running thorough testing to ensure efficiency, security, and smooth user experience.</a:t>
            </a:r>
            <a:endParaRPr lang="en-US" dirty="0"/>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xmlns=""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xmlns="" val="1"/>
              </a:ext>
            </a:extLst>
          </p:cNvPr>
          <p:cNvSpPr>
            <a:spLocks noGrp="1"/>
          </p:cNvSpPr>
          <p:nvPr>
            <p:ph type="body" sz="quarter" idx="14"/>
          </p:nvPr>
        </p:nvSpPr>
        <p:spPr/>
        <p:txBody>
          <a:bodyPr>
            <a:normAutofit fontScale="55000" lnSpcReduction="20000"/>
          </a:bodyPr>
          <a:lstStyle/>
          <a:p>
            <a:endParaRPr lang="en-US" dirty="0"/>
          </a:p>
        </p:txBody>
      </p:sp>
    </p:spTree>
    <p:extLst>
      <p:ext uri="{BB962C8B-B14F-4D97-AF65-F5344CB8AC3E}">
        <p14:creationId xmlns:p14="http://schemas.microsoft.com/office/powerpoint/2010/main" val="3972690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smtClean="0"/>
              <a:t>Literature Review</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r>
              <a:rPr lang="en-US" dirty="0"/>
              <a:t>Digital marketplaces have transformed how services are exchanged worldwide, with platforms like </a:t>
            </a:r>
            <a:r>
              <a:rPr lang="en-US" dirty="0" err="1"/>
              <a:t>TaskRabbit</a:t>
            </a:r>
            <a:r>
              <a:rPr lang="en-US" dirty="0"/>
              <a:t> and Fiverr demonstrating that gig systems can scale when trust and structure are in place. Kenya’s fast-growing gig economy, high youth unemployment, and strong mobile internet adoption create a clear need for a broad, reliable task-based </a:t>
            </a:r>
            <a:r>
              <a:rPr lang="en-US" dirty="0" smtClean="0"/>
              <a:t>platform, something </a:t>
            </a:r>
            <a:r>
              <a:rPr lang="en-US" dirty="0"/>
              <a:t>current local options haven’t fully delivered. Research consistently highlights trust, convenience, secure payments, and strong accountability as essential features for successful adoption. Minion Me draws directly from these principles, combining identity verification, Mobile Money integration, and rigorous accountability to offer a secure, scalable marketplace tailored to Kenya’s unique service landscape.</a:t>
            </a:r>
            <a:endParaRPr lang="en-US" dirty="0"/>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smtClean="0"/>
              <a:t>Minion Me</a:t>
            </a:r>
            <a:endParaRPr lang="en-US" dirty="0"/>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6</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FBCF731-478B-42B2-B3C6-ECCC3D68E00B}"/>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0"/>
            <a:ext cx="8329286" cy="6858000"/>
          </a:xfrm>
        </p:spPr>
      </p:pic>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xmlns="" val="1"/>
              </a:ext>
            </a:extLst>
          </p:cNvPr>
          <p:cNvSpPr>
            <a:spLocks noGrp="1"/>
          </p:cNvSpPr>
          <p:nvPr>
            <p:ph type="body" sz="quarter" idx="12"/>
          </p:nvPr>
        </p:nvSpPr>
        <p:spPr/>
        <p:txBody>
          <a:bodyPr/>
          <a:lstStyle/>
          <a:p>
            <a:endParaRPr lang="en-US" dirty="0"/>
          </a:p>
        </p:txBody>
      </p:sp>
      <p:sp>
        <p:nvSpPr>
          <p:cNvPr id="43" name="Title 42">
            <a:extLst>
              <a:ext uri="{FF2B5EF4-FFF2-40B4-BE49-F238E27FC236}">
                <a16:creationId xmlns:a16="http://schemas.microsoft.com/office/drawing/2014/main" id="{CF39D3B5-ABDB-4DFF-8107-EF97569C9BBE}"/>
              </a:ext>
            </a:extLst>
          </p:cNvPr>
          <p:cNvSpPr>
            <a:spLocks noGrp="1"/>
          </p:cNvSpPr>
          <p:nvPr>
            <p:ph type="ctrTitle"/>
          </p:nvPr>
        </p:nvSpPr>
        <p:spPr/>
        <p:txBody>
          <a:bodyPr/>
          <a:lstStyle/>
          <a:p>
            <a:r>
              <a:rPr lang="en-US" dirty="0" smtClean="0"/>
              <a:t>Methodology</a:t>
            </a:r>
            <a:endParaRPr lang="en-US" dirty="0"/>
          </a:p>
        </p:txBody>
      </p:sp>
      <p:sp>
        <p:nvSpPr>
          <p:cNvPr id="44" name="Subtitle 43">
            <a:extLst>
              <a:ext uri="{FF2B5EF4-FFF2-40B4-BE49-F238E27FC236}">
                <a16:creationId xmlns:a16="http://schemas.microsoft.com/office/drawing/2014/main" id="{F522C824-2C48-4465-AABE-F46286D9ECD5}"/>
              </a:ext>
            </a:extLst>
          </p:cNvPr>
          <p:cNvSpPr>
            <a:spLocks noGrp="1"/>
          </p:cNvSpPr>
          <p:nvPr>
            <p:ph type="subTitle" idx="1"/>
          </p:nvPr>
        </p:nvSpPr>
        <p:spPr/>
        <p:txBody>
          <a:bodyPr>
            <a:normAutofit fontScale="92500"/>
          </a:bodyPr>
          <a:lstStyle/>
          <a:p>
            <a:r>
              <a:rPr lang="en-US" dirty="0"/>
              <a:t>The project uses the Systems Development Life Cycle (SDLC), moving through clear, structured phases to analyze, plan, build, and test the platform. This approach ensures the system is developed methodically and thoroughly, resulting in a stable, well-documented final product.</a:t>
            </a:r>
            <a:endParaRPr lang="en-US" dirty="0"/>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xmlns=""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xmlns="" val="1"/>
              </a:ext>
            </a:extLst>
          </p:cNvPr>
          <p:cNvSpPr>
            <a:spLocks noGrp="1"/>
          </p:cNvSpPr>
          <p:nvPr>
            <p:ph type="body" sz="quarter" idx="14"/>
          </p:nvPr>
        </p:nvSpPr>
        <p:spPr/>
        <p:txBody>
          <a:bodyPr>
            <a:normAutofit fontScale="55000" lnSpcReduction="20000"/>
          </a:bodyPr>
          <a:lstStyle/>
          <a:p>
            <a:endParaRPr lang="en-US" dirty="0"/>
          </a:p>
        </p:txBody>
      </p:sp>
    </p:spTree>
    <p:extLst>
      <p:ext uri="{BB962C8B-B14F-4D97-AF65-F5344CB8AC3E}">
        <p14:creationId xmlns:p14="http://schemas.microsoft.com/office/powerpoint/2010/main" val="32028405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smtClean="0"/>
              <a:t>Requirement Analysis and System Design</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lstStyle/>
          <a:p>
            <a:r>
              <a:rPr lang="en-US" dirty="0"/>
              <a:t>The project begins by gathering detailed requirements through interviews, surveys, and market observation to define the needs of clients and service providers. This shapes functional expectations like task posting, payments, and verification, along with non-functional needs such as security, mobile usability, and scalability. The system is then designed logically and physically, developed using tools like React, Node.js, and MySQL, and tested for function, usability, and security. After deployment, users receive training and a pilot rollout collects early feedback. Ongoing maintenance keeps the platform secure, stable, and evolving.</a:t>
            </a:r>
            <a:endParaRPr lang="en-US" dirty="0"/>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smtClean="0"/>
              <a:t>Minion Me</a:t>
            </a:r>
            <a:endParaRPr lang="en-US" dirty="0"/>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8</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6607289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Budget</a:t>
            </a:r>
            <a:endParaRPr lang="en-US" dirty="0"/>
          </a:p>
        </p:txBody>
      </p:sp>
      <p:graphicFrame>
        <p:nvGraphicFramePr>
          <p:cNvPr id="7" name="Content Placeholder 6"/>
          <p:cNvGraphicFramePr>
            <a:graphicFrameLocks noGrp="1"/>
          </p:cNvGraphicFramePr>
          <p:nvPr>
            <p:ph sz="quarter" idx="13"/>
            <p:extLst>
              <p:ext uri="{D42A27DB-BD31-4B8C-83A1-F6EECF244321}">
                <p14:modId xmlns:p14="http://schemas.microsoft.com/office/powerpoint/2010/main" val="1513070576"/>
              </p:ext>
            </p:extLst>
          </p:nvPr>
        </p:nvGraphicFramePr>
        <p:xfrm>
          <a:off x="549275" y="2667000"/>
          <a:ext cx="10288588" cy="2758440"/>
        </p:xfrm>
        <a:graphic>
          <a:graphicData uri="http://schemas.openxmlformats.org/drawingml/2006/table">
            <a:tbl>
              <a:tblPr firstRow="1" bandRow="1">
                <a:tableStyleId>{BDBED569-4797-4DF1-A0F4-6AAB3CD982D8}</a:tableStyleId>
              </a:tblPr>
              <a:tblGrid>
                <a:gridCol w="2572147">
                  <a:extLst>
                    <a:ext uri="{9D8B030D-6E8A-4147-A177-3AD203B41FA5}">
                      <a16:colId xmlns:a16="http://schemas.microsoft.com/office/drawing/2014/main" val="4235508957"/>
                    </a:ext>
                  </a:extLst>
                </a:gridCol>
                <a:gridCol w="2572147">
                  <a:extLst>
                    <a:ext uri="{9D8B030D-6E8A-4147-A177-3AD203B41FA5}">
                      <a16:colId xmlns:a16="http://schemas.microsoft.com/office/drawing/2014/main" val="3594663644"/>
                    </a:ext>
                  </a:extLst>
                </a:gridCol>
                <a:gridCol w="2572147">
                  <a:extLst>
                    <a:ext uri="{9D8B030D-6E8A-4147-A177-3AD203B41FA5}">
                      <a16:colId xmlns:a16="http://schemas.microsoft.com/office/drawing/2014/main" val="358464714"/>
                    </a:ext>
                  </a:extLst>
                </a:gridCol>
                <a:gridCol w="2572147">
                  <a:extLst>
                    <a:ext uri="{9D8B030D-6E8A-4147-A177-3AD203B41FA5}">
                      <a16:colId xmlns:a16="http://schemas.microsoft.com/office/drawing/2014/main" val="38049718"/>
                    </a:ext>
                  </a:extLst>
                </a:gridCol>
              </a:tblGrid>
              <a:tr h="370840">
                <a:tc>
                  <a:txBody>
                    <a:bodyPr/>
                    <a:lstStyle/>
                    <a:p>
                      <a:pPr marL="0" marR="0">
                        <a:lnSpc>
                          <a:spcPct val="150000"/>
                        </a:lnSpc>
                        <a:spcBef>
                          <a:spcPts val="0"/>
                        </a:spcBef>
                        <a:spcAft>
                          <a:spcPts val="0"/>
                        </a:spcAft>
                      </a:pPr>
                      <a:r>
                        <a:rPr lang="en-US" sz="1200" dirty="0">
                          <a:effectLst/>
                          <a:latin typeface="Aptos"/>
                          <a:ea typeface="Aptos"/>
                          <a:cs typeface="Aptos"/>
                        </a:rPr>
                        <a:t>Item</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Aptos"/>
                          <a:cs typeface="Aptos"/>
                        </a:rPr>
                        <a:t>Description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Expected Cost (KSh)</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Actual Cost (KSh)</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8961502"/>
                  </a:ext>
                </a:extLst>
              </a:tr>
              <a:tr h="370840">
                <a:tc>
                  <a:txBody>
                    <a:bodyPr/>
                    <a:lstStyle/>
                    <a:p>
                      <a:pPr marL="0" marR="0">
                        <a:lnSpc>
                          <a:spcPct val="150000"/>
                        </a:lnSpc>
                        <a:spcBef>
                          <a:spcPts val="0"/>
                        </a:spcBef>
                        <a:spcAft>
                          <a:spcPts val="0"/>
                        </a:spcAft>
                      </a:pPr>
                      <a:r>
                        <a:rPr lang="en-US" sz="1200">
                          <a:effectLst/>
                          <a:latin typeface="Aptos"/>
                          <a:ea typeface="Aptos"/>
                          <a:cs typeface="Aptos"/>
                        </a:rPr>
                        <a:t>Hardware</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Laptop/computer for development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80,000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Available(0)</a:t>
                      </a:r>
                    </a:p>
                  </a:txBody>
                  <a:tcPr marL="68580" marR="68580" marT="0" marB="0"/>
                </a:tc>
                <a:extLst>
                  <a:ext uri="{0D108BD9-81ED-4DB2-BD59-A6C34878D82A}">
                    <a16:rowId xmlns:a16="http://schemas.microsoft.com/office/drawing/2014/main" val="3500695482"/>
                  </a:ext>
                </a:extLst>
              </a:tr>
              <a:tr h="370840">
                <a:tc>
                  <a:txBody>
                    <a:bodyPr/>
                    <a:lstStyle/>
                    <a:p>
                      <a:pPr marL="0" marR="0">
                        <a:lnSpc>
                          <a:spcPct val="150000"/>
                        </a:lnSpc>
                        <a:spcBef>
                          <a:spcPts val="0"/>
                        </a:spcBef>
                        <a:spcAft>
                          <a:spcPts val="0"/>
                        </a:spcAft>
                      </a:pPr>
                      <a:r>
                        <a:rPr lang="en-US" sz="1200">
                          <a:effectLst/>
                          <a:latin typeface="Aptos"/>
                          <a:ea typeface="Aptos"/>
                          <a:cs typeface="Aptos"/>
                        </a:rPr>
                        <a:t>Software</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Development tools and licenses (mostly open source)</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5,000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extLst>
                  <a:ext uri="{0D108BD9-81ED-4DB2-BD59-A6C34878D82A}">
                    <a16:rowId xmlns:a16="http://schemas.microsoft.com/office/drawing/2014/main" val="3254758329"/>
                  </a:ext>
                </a:extLst>
              </a:tr>
              <a:tr h="370840">
                <a:tc>
                  <a:txBody>
                    <a:bodyPr/>
                    <a:lstStyle/>
                    <a:p>
                      <a:pPr marL="0" marR="0">
                        <a:lnSpc>
                          <a:spcPct val="150000"/>
                        </a:lnSpc>
                        <a:spcBef>
                          <a:spcPts val="0"/>
                        </a:spcBef>
                        <a:spcAft>
                          <a:spcPts val="0"/>
                        </a:spcAft>
                      </a:pPr>
                      <a:r>
                        <a:rPr lang="en-US" sz="1200">
                          <a:effectLst/>
                          <a:latin typeface="Aptos"/>
                          <a:ea typeface="Aptos"/>
                          <a:cs typeface="Aptos"/>
                        </a:rPr>
                        <a:t>Internet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Connectivity for research and testing</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5,000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extLst>
                  <a:ext uri="{0D108BD9-81ED-4DB2-BD59-A6C34878D82A}">
                    <a16:rowId xmlns:a16="http://schemas.microsoft.com/office/drawing/2014/main" val="2385740331"/>
                  </a:ext>
                </a:extLst>
              </a:tr>
              <a:tr h="370840">
                <a:tc>
                  <a:txBody>
                    <a:bodyPr/>
                    <a:lstStyle/>
                    <a:p>
                      <a:pPr marL="0" marR="0">
                        <a:lnSpc>
                          <a:spcPct val="150000"/>
                        </a:lnSpc>
                        <a:spcBef>
                          <a:spcPts val="0"/>
                        </a:spcBef>
                        <a:spcAft>
                          <a:spcPts val="0"/>
                        </a:spcAft>
                      </a:pPr>
                      <a:r>
                        <a:rPr lang="en-US" sz="1200">
                          <a:effectLst/>
                          <a:latin typeface="Aptos"/>
                          <a:ea typeface="Aptos"/>
                          <a:cs typeface="Aptos"/>
                        </a:rPr>
                        <a:t>Miscellaneous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Printing, documentation, contingency</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5,000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extLst>
                  <a:ext uri="{0D108BD9-81ED-4DB2-BD59-A6C34878D82A}">
                    <a16:rowId xmlns:a16="http://schemas.microsoft.com/office/drawing/2014/main" val="939036873"/>
                  </a:ext>
                </a:extLst>
              </a:tr>
              <a:tr h="370840">
                <a:tc>
                  <a:txBody>
                    <a:bodyPr/>
                    <a:lstStyle/>
                    <a:p>
                      <a:pPr marL="0" marR="0">
                        <a:lnSpc>
                          <a:spcPct val="150000"/>
                        </a:lnSpc>
                        <a:spcBef>
                          <a:spcPts val="0"/>
                        </a:spcBef>
                        <a:spcAft>
                          <a:spcPts val="0"/>
                        </a:spcAft>
                      </a:pPr>
                      <a:r>
                        <a:rPr lang="en-US" sz="1200" b="1">
                          <a:effectLst/>
                          <a:latin typeface="Aptos"/>
                          <a:ea typeface="Aptos"/>
                          <a:cs typeface="Aptos"/>
                        </a:rPr>
                        <a:t>Total</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b="1">
                          <a:effectLst/>
                          <a:latin typeface="Aptos"/>
                          <a:ea typeface="Aptos"/>
                          <a:cs typeface="Aptos"/>
                        </a:rPr>
                        <a:t>15,000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dirty="0">
                          <a:effectLst/>
                          <a:latin typeface="Aptos"/>
                          <a:ea typeface="Times New Roman" panose="02020603050405020304" pitchFamily="18" charset="0"/>
                          <a:cs typeface="Times New Roman" panose="02020603050405020304" pitchFamily="18" charset="0"/>
                        </a:rPr>
                        <a:t> </a:t>
                      </a:r>
                    </a:p>
                  </a:txBody>
                  <a:tcPr marL="68580" marR="68580" marT="0" marB="0"/>
                </a:tc>
                <a:extLst>
                  <a:ext uri="{0D108BD9-81ED-4DB2-BD59-A6C34878D82A}">
                    <a16:rowId xmlns:a16="http://schemas.microsoft.com/office/drawing/2014/main" val="3362730266"/>
                  </a:ext>
                </a:extLst>
              </a:tr>
            </a:tbl>
          </a:graphicData>
        </a:graphic>
      </p:graphicFrame>
      <p:sp>
        <p:nvSpPr>
          <p:cNvPr id="4" name="Picture Placeholder 3"/>
          <p:cNvSpPr>
            <a:spLocks noGrp="1"/>
          </p:cNvSpPr>
          <p:nvPr>
            <p:ph type="pic" sz="quarter" idx="15"/>
          </p:nvPr>
        </p:nvSpPr>
        <p:spPr/>
      </p:sp>
      <p:sp>
        <p:nvSpPr>
          <p:cNvPr id="5" name="Text Placeholder 4"/>
          <p:cNvSpPr>
            <a:spLocks noGrp="1"/>
          </p:cNvSpPr>
          <p:nvPr>
            <p:ph type="body" sz="quarter" idx="16"/>
          </p:nvPr>
        </p:nvSpPr>
        <p:spPr/>
        <p:txBody>
          <a:bodyPr/>
          <a:lstStyle/>
          <a:p>
            <a:r>
              <a:rPr lang="en-US" dirty="0" smtClean="0"/>
              <a:t>Minion Me</a:t>
            </a:r>
            <a:endParaRPr lang="en-US" dirty="0"/>
          </a:p>
        </p:txBody>
      </p:sp>
      <p:sp>
        <p:nvSpPr>
          <p:cNvPr id="6" name="Slide Number Placeholder 5"/>
          <p:cNvSpPr>
            <a:spLocks noGrp="1"/>
          </p:cNvSpPr>
          <p:nvPr>
            <p:ph type="sldNum" sz="quarter" idx="4"/>
          </p:nvPr>
        </p:nvSpPr>
        <p:spPr/>
        <p:txBody>
          <a:bodyPr/>
          <a:lstStyle/>
          <a:p>
            <a:fld id="{4FAB73BC-B049-4115-A692-8D63A059BFB8}" type="slidenum">
              <a:rPr lang="en-US" noProof="0" smtClean="0"/>
              <a:pPr/>
              <a:t>9</a:t>
            </a:fld>
            <a:endParaRPr lang="en-US" noProof="0" dirty="0"/>
          </a:p>
        </p:txBody>
      </p:sp>
    </p:spTree>
    <p:extLst>
      <p:ext uri="{BB962C8B-B14F-4D97-AF65-F5344CB8AC3E}">
        <p14:creationId xmlns:p14="http://schemas.microsoft.com/office/powerpoint/2010/main" val="21908205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24509E-BB74-42FE-A9A8-F01572CD040C}"/>
              </a:ext>
            </a:extLst>
          </p:cNvPr>
          <p:cNvSpPr>
            <a:spLocks noGrp="1"/>
          </p:cNvSpPr>
          <p:nvPr>
            <p:ph type="title"/>
          </p:nvPr>
        </p:nvSpPr>
        <p:spPr/>
        <p:txBody>
          <a:bodyPr/>
          <a:lstStyle/>
          <a:p>
            <a:r>
              <a:rPr lang="en-US" sz="3200" dirty="0" smtClean="0"/>
              <a:t>schedule</a:t>
            </a:r>
            <a:endParaRPr lang="en-US" sz="3200" dirty="0"/>
          </a:p>
        </p:txBody>
      </p:sp>
      <p:sp>
        <p:nvSpPr>
          <p:cNvPr id="11" name="Slide Number Placeholder 10">
            <a:extLst>
              <a:ext uri="{FF2B5EF4-FFF2-40B4-BE49-F238E27FC236}">
                <a16:creationId xmlns:a16="http://schemas.microsoft.com/office/drawing/2014/main" id="{4F6BA4CE-8BD2-419E-A270-15A0EFE01D9F}"/>
              </a:ext>
            </a:extLst>
          </p:cNvPr>
          <p:cNvSpPr>
            <a:spLocks noGrp="1"/>
          </p:cNvSpPr>
          <p:nvPr>
            <p:ph type="sldNum" sz="quarter" idx="4"/>
          </p:nvPr>
        </p:nvSpPr>
        <p:spPr/>
        <p:txBody>
          <a:bodyPr/>
          <a:lstStyle/>
          <a:p>
            <a:fld id="{4FAB73BC-B049-4115-A692-8D63A059BFB8}" type="slidenum">
              <a:rPr lang="en-US" smtClean="0"/>
              <a:pPr/>
              <a:t>10</a:t>
            </a:fld>
            <a:endParaRPr lang="en-US" dirty="0"/>
          </a:p>
        </p:txBody>
      </p:sp>
      <p:sp>
        <p:nvSpPr>
          <p:cNvPr id="12" name="Text Placeholder 119">
            <a:extLst>
              <a:ext uri="{FF2B5EF4-FFF2-40B4-BE49-F238E27FC236}">
                <a16:creationId xmlns:a16="http://schemas.microsoft.com/office/drawing/2014/main" id="{C0F25050-A2F4-4F04-ACDB-1E69650344BA}"/>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942288855"/>
              </p:ext>
            </p:extLst>
          </p:nvPr>
        </p:nvGraphicFramePr>
        <p:xfrm>
          <a:off x="2032000" y="719666"/>
          <a:ext cx="8128000" cy="6035040"/>
        </p:xfrm>
        <a:graphic>
          <a:graphicData uri="http://schemas.openxmlformats.org/drawingml/2006/table">
            <a:tbl>
              <a:tblPr firstRow="1" bandRow="1">
                <a:tableStyleId>{BDBED569-4797-4DF1-A0F4-6AAB3CD982D8}</a:tableStyleId>
              </a:tblPr>
              <a:tblGrid>
                <a:gridCol w="812800">
                  <a:extLst>
                    <a:ext uri="{9D8B030D-6E8A-4147-A177-3AD203B41FA5}">
                      <a16:colId xmlns:a16="http://schemas.microsoft.com/office/drawing/2014/main" val="3593595539"/>
                    </a:ext>
                  </a:extLst>
                </a:gridCol>
                <a:gridCol w="812800">
                  <a:extLst>
                    <a:ext uri="{9D8B030D-6E8A-4147-A177-3AD203B41FA5}">
                      <a16:colId xmlns:a16="http://schemas.microsoft.com/office/drawing/2014/main" val="2844921213"/>
                    </a:ext>
                  </a:extLst>
                </a:gridCol>
                <a:gridCol w="812800">
                  <a:extLst>
                    <a:ext uri="{9D8B030D-6E8A-4147-A177-3AD203B41FA5}">
                      <a16:colId xmlns:a16="http://schemas.microsoft.com/office/drawing/2014/main" val="303623504"/>
                    </a:ext>
                  </a:extLst>
                </a:gridCol>
                <a:gridCol w="812800">
                  <a:extLst>
                    <a:ext uri="{9D8B030D-6E8A-4147-A177-3AD203B41FA5}">
                      <a16:colId xmlns:a16="http://schemas.microsoft.com/office/drawing/2014/main" val="126811352"/>
                    </a:ext>
                  </a:extLst>
                </a:gridCol>
                <a:gridCol w="812800">
                  <a:extLst>
                    <a:ext uri="{9D8B030D-6E8A-4147-A177-3AD203B41FA5}">
                      <a16:colId xmlns:a16="http://schemas.microsoft.com/office/drawing/2014/main" val="3213269361"/>
                    </a:ext>
                  </a:extLst>
                </a:gridCol>
                <a:gridCol w="812800">
                  <a:extLst>
                    <a:ext uri="{9D8B030D-6E8A-4147-A177-3AD203B41FA5}">
                      <a16:colId xmlns:a16="http://schemas.microsoft.com/office/drawing/2014/main" val="1706726098"/>
                    </a:ext>
                  </a:extLst>
                </a:gridCol>
                <a:gridCol w="812800">
                  <a:extLst>
                    <a:ext uri="{9D8B030D-6E8A-4147-A177-3AD203B41FA5}">
                      <a16:colId xmlns:a16="http://schemas.microsoft.com/office/drawing/2014/main" val="2992323364"/>
                    </a:ext>
                  </a:extLst>
                </a:gridCol>
                <a:gridCol w="812800">
                  <a:extLst>
                    <a:ext uri="{9D8B030D-6E8A-4147-A177-3AD203B41FA5}">
                      <a16:colId xmlns:a16="http://schemas.microsoft.com/office/drawing/2014/main" val="2139209676"/>
                    </a:ext>
                  </a:extLst>
                </a:gridCol>
                <a:gridCol w="812800">
                  <a:extLst>
                    <a:ext uri="{9D8B030D-6E8A-4147-A177-3AD203B41FA5}">
                      <a16:colId xmlns:a16="http://schemas.microsoft.com/office/drawing/2014/main" val="3841862064"/>
                    </a:ext>
                  </a:extLst>
                </a:gridCol>
                <a:gridCol w="812800">
                  <a:extLst>
                    <a:ext uri="{9D8B030D-6E8A-4147-A177-3AD203B41FA5}">
                      <a16:colId xmlns:a16="http://schemas.microsoft.com/office/drawing/2014/main" val="2348417289"/>
                    </a:ext>
                  </a:extLst>
                </a:gridCol>
              </a:tblGrid>
              <a:tr h="370840">
                <a:tc>
                  <a:txBody>
                    <a:bodyPr/>
                    <a:lstStyle/>
                    <a:p>
                      <a:pPr marL="0" marR="0">
                        <a:lnSpc>
                          <a:spcPct val="150000"/>
                        </a:lnSpc>
                        <a:spcBef>
                          <a:spcPts val="180"/>
                        </a:spcBef>
                        <a:spcAft>
                          <a:spcPts val="180"/>
                        </a:spcAft>
                      </a:pPr>
                      <a:r>
                        <a:rPr lang="en-US" sz="1200" dirty="0">
                          <a:effectLst/>
                          <a:latin typeface="Aptos"/>
                          <a:ea typeface="Aptos"/>
                          <a:cs typeface="Aptos"/>
                        </a:rPr>
                        <a:t>Task No.</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Description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Hrs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Subtask</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Hrs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Planned Start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Actual Start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Planned Completion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Actual Completion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Deliverables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33968136"/>
                  </a:ext>
                </a:extLst>
              </a:tr>
              <a:tr h="370840">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1</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Requirements Gathering</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30</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Interviews &amp; Surveys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15</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dirty="0">
                          <a:effectLst/>
                          <a:latin typeface="Aptos"/>
                          <a:ea typeface="Aptos"/>
                          <a:cs typeface="Aptos"/>
                        </a:rPr>
                        <a:t>01/11/2025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05/11/2025</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Requirements Report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25701730"/>
                  </a:ext>
                </a:extLst>
              </a:tr>
              <a:tr h="370840">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2</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System Design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40</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Database Design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15</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16/11/2025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22/11/2025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DFDs, ER Diagrams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53175555"/>
                  </a:ext>
                </a:extLst>
              </a:tr>
              <a:tr h="370840">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3</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Development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120</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Frontend Development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60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23/11/2025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1/12/2025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Working Prototype</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2081376"/>
                  </a:ext>
                </a:extLst>
              </a:tr>
              <a:tr h="370840">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4</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Testing</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40</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Functional &amp; Security Tests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20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1/12/2025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15/12/2025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Test Report</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7354055"/>
                  </a:ext>
                </a:extLst>
              </a:tr>
              <a:tr h="370840">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5</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Implementation</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20</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Deployment &amp; Training</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10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16/12/2025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19/12/2025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Deployed System</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4781934"/>
                  </a:ext>
                </a:extLst>
              </a:tr>
              <a:tr h="370840">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6</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Maintenance</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20</a:t>
                      </a: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Debugging &amp; Updates</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a:effectLst/>
                          <a:latin typeface="Aptos"/>
                          <a:ea typeface="Aptos"/>
                          <a:cs typeface="Aptos"/>
                        </a:rPr>
                        <a:t>10</a:t>
                      </a:r>
                      <a:endParaRPr lang="en-US" sz="120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21/12/2025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dirty="0" smtClean="0">
                          <a:effectLst/>
                          <a:latin typeface="Aptos"/>
                          <a:ea typeface="Aptos"/>
                          <a:cs typeface="Aptos"/>
                        </a:rPr>
                        <a:t>23/12/2025</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200">
                          <a:effectLst/>
                          <a:latin typeface="Aptos"/>
                          <a:ea typeface="Times New Roman" panose="02020603050405020304" pitchFamily="18" charset="0"/>
                          <a:cs typeface="Times New Roman" panose="02020603050405020304" pitchFamily="18" charset="0"/>
                        </a:rPr>
                        <a:t> </a:t>
                      </a:r>
                    </a:p>
                  </a:txBody>
                  <a:tcPr marL="68580" marR="68580" marT="0" marB="0"/>
                </a:tc>
                <a:tc>
                  <a:txBody>
                    <a:bodyPr/>
                    <a:lstStyle/>
                    <a:p>
                      <a:pPr marL="0" marR="0">
                        <a:lnSpc>
                          <a:spcPct val="150000"/>
                        </a:lnSpc>
                        <a:spcBef>
                          <a:spcPts val="180"/>
                        </a:spcBef>
                        <a:spcAft>
                          <a:spcPts val="180"/>
                        </a:spcAft>
                      </a:pPr>
                      <a:r>
                        <a:rPr lang="en-US" sz="1200" dirty="0">
                          <a:effectLst/>
                          <a:latin typeface="Aptos"/>
                          <a:ea typeface="Aptos"/>
                          <a:cs typeface="Aptos"/>
                        </a:rPr>
                        <a:t>Final Report</a:t>
                      </a:r>
                      <a:endParaRPr lang="en-US" sz="1200" dirty="0">
                        <a:effectLst/>
                        <a:latin typeface="Aptos"/>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30486964"/>
                  </a:ext>
                </a:extLst>
              </a:tr>
            </a:tbl>
          </a:graphicData>
        </a:graphic>
      </p:graphicFrame>
    </p:spTree>
    <p:extLst>
      <p:ext uri="{BB962C8B-B14F-4D97-AF65-F5344CB8AC3E}">
        <p14:creationId xmlns:p14="http://schemas.microsoft.com/office/powerpoint/2010/main" val="19650897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p:txBody>
          <a:bodyPr/>
          <a:lstStyle/>
          <a:p>
            <a:r>
              <a:rPr lang="en-US" dirty="0" smtClean="0"/>
              <a:t>References</a:t>
            </a:r>
            <a:endParaRPr lang="en-US" dirty="0"/>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p:txBody>
          <a:bodyPr>
            <a:normAutofit fontScale="92500" lnSpcReduction="10000"/>
          </a:bodyPr>
          <a:lstStyle/>
          <a:p>
            <a:pPr lvl="0"/>
            <a:r>
              <a:rPr lang="en-US" b="1" dirty="0"/>
              <a:t>International </a:t>
            </a:r>
            <a:r>
              <a:rPr lang="en-US" b="1" dirty="0" err="1"/>
              <a:t>Labour</a:t>
            </a:r>
            <a:r>
              <a:rPr lang="en-US" b="1" dirty="0"/>
              <a:t> Organization (ILO)</a:t>
            </a:r>
            <a:r>
              <a:rPr lang="en-US" dirty="0"/>
              <a:t> (2023). </a:t>
            </a:r>
            <a:r>
              <a:rPr lang="en-US" i="1" dirty="0"/>
              <a:t>Digital </a:t>
            </a:r>
            <a:r>
              <a:rPr lang="en-US" i="1" dirty="0" err="1"/>
              <a:t>Labour</a:t>
            </a:r>
            <a:r>
              <a:rPr lang="en-US" i="1" dirty="0"/>
              <a:t> Platforms and the Future of Work in Africa</a:t>
            </a:r>
            <a:r>
              <a:rPr lang="en-US" dirty="0"/>
              <a:t>. Geneva: ILO.</a:t>
            </a:r>
          </a:p>
          <a:p>
            <a:pPr lvl="0"/>
            <a:r>
              <a:rPr lang="en-US" b="1" dirty="0" err="1"/>
              <a:t>Lynk</a:t>
            </a:r>
            <a:r>
              <a:rPr lang="en-US" b="1" dirty="0"/>
              <a:t> Kenya</a:t>
            </a:r>
            <a:r>
              <a:rPr lang="en-US" dirty="0"/>
              <a:t> (2024). </a:t>
            </a:r>
            <a:r>
              <a:rPr lang="en-US" i="1" dirty="0"/>
              <a:t>About Us</a:t>
            </a:r>
            <a:r>
              <a:rPr lang="en-US" dirty="0"/>
              <a:t>. Retrieved from </a:t>
            </a:r>
            <a:r>
              <a:rPr lang="en-US" u="sng" dirty="0">
                <a:hlinkClick r:id="rId3"/>
              </a:rPr>
              <a:t>https://www.lynk.co.ke</a:t>
            </a:r>
            <a:endParaRPr lang="en-US" dirty="0"/>
          </a:p>
          <a:p>
            <a:pPr lvl="0"/>
            <a:r>
              <a:rPr lang="en-US" b="1" dirty="0"/>
              <a:t>Mobile Money/GSMA</a:t>
            </a:r>
            <a:r>
              <a:rPr lang="en-US" dirty="0"/>
              <a:t> (2024). </a:t>
            </a:r>
            <a:r>
              <a:rPr lang="en-US" i="1" dirty="0"/>
              <a:t>The Mobile Economy Sub-Saharan Africa 2024</a:t>
            </a:r>
            <a:r>
              <a:rPr lang="en-US" dirty="0"/>
              <a:t>. (A general industry report supporting high Mobile Money penetration is necessary here.)</a:t>
            </a:r>
          </a:p>
          <a:p>
            <a:pPr lvl="0"/>
            <a:r>
              <a:rPr lang="en-US" b="1" dirty="0"/>
              <a:t>Pressman, R.</a:t>
            </a:r>
            <a:r>
              <a:rPr lang="en-US" dirty="0"/>
              <a:t> (2019). </a:t>
            </a:r>
            <a:r>
              <a:rPr lang="en-US" i="1" dirty="0"/>
              <a:t>Software Engineering: A Practitioner’s Approach</a:t>
            </a:r>
            <a:r>
              <a:rPr lang="en-US" dirty="0"/>
              <a:t>. McGraw Hill. </a:t>
            </a:r>
          </a:p>
          <a:p>
            <a:pPr lvl="0"/>
            <a:r>
              <a:rPr lang="en-US" b="1" dirty="0" err="1"/>
              <a:t>Sommerville</a:t>
            </a:r>
            <a:r>
              <a:rPr lang="en-US" b="1" dirty="0"/>
              <a:t>, I.</a:t>
            </a:r>
            <a:r>
              <a:rPr lang="en-US" dirty="0"/>
              <a:t> (2020). </a:t>
            </a:r>
            <a:r>
              <a:rPr lang="en-US" i="1" dirty="0"/>
              <a:t>Software Engineering</a:t>
            </a:r>
            <a:r>
              <a:rPr lang="en-US" dirty="0"/>
              <a:t> (10th Edition). Pearson. </a:t>
            </a:r>
          </a:p>
          <a:p>
            <a:pPr lvl="0"/>
            <a:r>
              <a:rPr lang="en-US" b="1" dirty="0" err="1"/>
              <a:t>TaskRabbit</a:t>
            </a:r>
            <a:r>
              <a:rPr lang="en-US" dirty="0"/>
              <a:t> (2024). </a:t>
            </a:r>
            <a:r>
              <a:rPr lang="en-US" i="1" dirty="0"/>
              <a:t>Company Overview</a:t>
            </a:r>
            <a:r>
              <a:rPr lang="en-US" dirty="0"/>
              <a:t>. Retrieved from </a:t>
            </a:r>
            <a:r>
              <a:rPr lang="en-US" u="sng" dirty="0">
                <a:hlinkClick r:id="rId4"/>
              </a:rPr>
              <a:t>https://www.taskrabbit.com</a:t>
            </a:r>
            <a:r>
              <a:rPr lang="en-US" dirty="0"/>
              <a:t> </a:t>
            </a:r>
          </a:p>
          <a:p>
            <a:pPr lvl="0"/>
            <a:r>
              <a:rPr lang="en-US" b="1" dirty="0"/>
              <a:t>Fiverr International Ltd.</a:t>
            </a:r>
            <a:r>
              <a:rPr lang="en-US" dirty="0"/>
              <a:t> (2024). </a:t>
            </a:r>
            <a:r>
              <a:rPr lang="en-US" i="1" dirty="0"/>
              <a:t>About Fiverr</a:t>
            </a:r>
            <a:r>
              <a:rPr lang="en-US" dirty="0"/>
              <a:t>. Retrieved from (Insert official website URL). </a:t>
            </a:r>
          </a:p>
          <a:p>
            <a:pPr lvl="0"/>
            <a:r>
              <a:rPr lang="en-US" b="1" dirty="0" err="1"/>
              <a:t>Upwork</a:t>
            </a:r>
            <a:r>
              <a:rPr lang="en-US" b="1" dirty="0"/>
              <a:t> Inc.</a:t>
            </a:r>
            <a:r>
              <a:rPr lang="en-US" dirty="0"/>
              <a:t> (2024). </a:t>
            </a:r>
            <a:r>
              <a:rPr lang="en-US" i="1" dirty="0"/>
              <a:t>Company Profile</a:t>
            </a:r>
            <a:r>
              <a:rPr lang="en-US" dirty="0"/>
              <a:t>. Retrieved from (Insert official website URL). </a:t>
            </a:r>
          </a:p>
        </p:txBody>
      </p:sp>
      <p:sp>
        <p:nvSpPr>
          <p:cNvPr id="2" name="Text Placeholder 1">
            <a:extLst>
              <a:ext uri="{FF2B5EF4-FFF2-40B4-BE49-F238E27FC236}">
                <a16:creationId xmlns:a16="http://schemas.microsoft.com/office/drawing/2014/main" id="{E4C965B6-7E38-4D37-8DC4-198F7E2181D5}"/>
              </a:ext>
            </a:extLst>
          </p:cNvPr>
          <p:cNvSpPr>
            <a:spLocks noGrp="1"/>
          </p:cNvSpPr>
          <p:nvPr>
            <p:ph type="body" sz="quarter" idx="16"/>
          </p:nvPr>
        </p:nvSpPr>
        <p:spPr/>
        <p:txBody>
          <a:bodyPr/>
          <a:lstStyle/>
          <a:p>
            <a:r>
              <a:rPr lang="en-US" dirty="0" smtClean="0"/>
              <a:t>Minion Me</a:t>
            </a:r>
            <a:endParaRPr lang="en-US" dirty="0"/>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11</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xmlns=""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xmlns="" val="1"/>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385335747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86D9CC-0D9D-4BFE-B3F3-26F480BF8C8A}">
  <ds:schemaRefs>
    <ds:schemaRef ds:uri="71af3243-3dd4-4a8d-8c0d-dd76da1f02a5"/>
    <ds:schemaRef ds:uri="16c05727-aa75-4e4a-9b5f-8a80a1165891"/>
    <ds:schemaRef ds:uri="http://purl.org/dc/terms/"/>
    <ds:schemaRef ds:uri="http://schemas.microsoft.com/office/2006/metadata/properties"/>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8106BD98-E608-40A1-98A8-93D5976215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classic block presentation</Template>
  <TotalTime>0</TotalTime>
  <Words>1020</Words>
  <Application>Microsoft Office PowerPoint</Application>
  <PresentationFormat>Widescreen</PresentationFormat>
  <Paragraphs>146</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Times New Roman</vt:lpstr>
      <vt:lpstr>Tw Cen MT</vt:lpstr>
      <vt:lpstr>Tw Cen MT Condensed</vt:lpstr>
      <vt:lpstr>Wingdings 3</vt:lpstr>
      <vt:lpstr>ModernClassicBlock-3</vt:lpstr>
      <vt:lpstr>Minion Me Service Marketplace </vt:lpstr>
      <vt:lpstr>Background</vt:lpstr>
      <vt:lpstr>Problem statement</vt:lpstr>
      <vt:lpstr>Proposed Solution</vt:lpstr>
      <vt:lpstr>Objectives</vt:lpstr>
      <vt:lpstr>Literature Review</vt:lpstr>
      <vt:lpstr>Methodology</vt:lpstr>
      <vt:lpstr>Requirement Analysis and System Design</vt:lpstr>
      <vt:lpstr>Budget</vt:lpstr>
      <vt:lpstr>schedule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2025-11-17T06:15:08Z</dcterms:created>
  <dcterms:modified xsi:type="dcterms:W3CDTF">2025-11-17T07:00:07Z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